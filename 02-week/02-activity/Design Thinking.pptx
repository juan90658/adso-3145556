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ans Bold" charset="1" panose="00000000000000000000"/>
      <p:regular r:id="rId12"/>
    </p:embeddedFont>
    <p:embeddedFont>
      <p:font typeface="Open Sans Bold" charset="1" panose="020B0806030504020204"/>
      <p:regular r:id="rId13"/>
    </p:embeddedFont>
    <p:embeddedFont>
      <p:font typeface="Open Sans" charset="1" panose="020B0606030504020204"/>
      <p:regular r:id="rId14"/>
    </p:embeddedFont>
    <p:embeddedFont>
      <p:font typeface="DM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3600" y="604067"/>
            <a:ext cx="8280400" cy="250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89"/>
              </a:lnSpc>
              <a:spcBef>
                <a:spcPct val="0"/>
              </a:spcBef>
            </a:pPr>
            <a:r>
              <a:rPr lang="en-US" b="true" sz="8899" spc="-88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¿Que es </a:t>
            </a:r>
            <a:r>
              <a:rPr lang="en-US" b="true" sz="8899" spc="-88" u="non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Thinking?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849542" y="1813105"/>
            <a:ext cx="7414100" cy="10564132"/>
          </a:xfrm>
          <a:custGeom>
            <a:avLst/>
            <a:gdLst/>
            <a:ahLst/>
            <a:cxnLst/>
            <a:rect r="r" b="b" t="t" l="l"/>
            <a:pathLst>
              <a:path h="10564132" w="7414100">
                <a:moveTo>
                  <a:pt x="0" y="0"/>
                </a:moveTo>
                <a:lnTo>
                  <a:pt x="7414100" y="0"/>
                </a:lnTo>
                <a:lnTo>
                  <a:pt x="7414100" y="10564132"/>
                </a:lnTo>
                <a:lnTo>
                  <a:pt x="0" y="1056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3600" y="3460470"/>
            <a:ext cx="8279800" cy="615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sz="2898" b="true">
                <a:solidFill>
                  <a:srgbClr val="100F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Thinking</a:t>
            </a: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 es una metodología de innovación centrada en el usuario.</a:t>
            </a:r>
          </a:p>
          <a:p>
            <a:pPr algn="ctr">
              <a:lnSpc>
                <a:spcPts val="4057"/>
              </a:lnSpc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 Su objetivo es resolver problemas entendiendo profundamente las necesidades reales del cliente antes de diseñar la solución.</a:t>
            </a:r>
          </a:p>
          <a:p>
            <a:pPr algn="ctr">
              <a:lnSpc>
                <a:spcPts val="4057"/>
              </a:lnSpc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Se usa mucho en:</a:t>
            </a:r>
          </a:p>
          <a:p>
            <a:pPr algn="ctr" marL="625801" indent="-312901" lvl="1">
              <a:lnSpc>
                <a:spcPts val="4057"/>
              </a:lnSpc>
              <a:buFont typeface="Arial"/>
              <a:buChar char="•"/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Diseño de productos</a:t>
            </a:r>
          </a:p>
          <a:p>
            <a:pPr algn="ctr" marL="625801" indent="-312901" lvl="1">
              <a:lnSpc>
                <a:spcPts val="4057"/>
              </a:lnSpc>
              <a:buFont typeface="Arial"/>
              <a:buChar char="•"/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Desarrollo de software</a:t>
            </a:r>
          </a:p>
          <a:p>
            <a:pPr algn="ctr" marL="625801" indent="-312901" lvl="1">
              <a:lnSpc>
                <a:spcPts val="4057"/>
              </a:lnSpc>
              <a:buFont typeface="Arial"/>
              <a:buChar char="•"/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Experiencia de usuario (UX)</a:t>
            </a:r>
          </a:p>
          <a:p>
            <a:pPr algn="ctr" marL="625801" indent="-312901" lvl="1">
              <a:lnSpc>
                <a:spcPts val="4057"/>
              </a:lnSpc>
              <a:buFont typeface="Arial"/>
              <a:buChar char="•"/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Modelos de negocio</a:t>
            </a:r>
          </a:p>
          <a:p>
            <a:pPr algn="ctr" marL="625801" indent="-312901" lvl="1">
              <a:lnSpc>
                <a:spcPts val="4057"/>
              </a:lnSpc>
              <a:buFont typeface="Arial"/>
              <a:buChar char="•"/>
            </a:pPr>
            <a:r>
              <a:rPr lang="en-US" sz="2898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Servicios (como una cafetería)</a:t>
            </a:r>
          </a:p>
          <a:p>
            <a:pPr algn="ctr">
              <a:lnSpc>
                <a:spcPts val="405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0808" y="536302"/>
            <a:ext cx="5507936" cy="4265678"/>
            <a:chOff x="0" y="0"/>
            <a:chExt cx="3186570" cy="246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6570" cy="2467872"/>
            </a:xfrm>
            <a:custGeom>
              <a:avLst/>
              <a:gdLst/>
              <a:ahLst/>
              <a:cxnLst/>
              <a:rect r="r" b="b" t="t" l="l"/>
              <a:pathLst>
                <a:path h="2467872" w="3186570">
                  <a:moveTo>
                    <a:pt x="3062110" y="2467872"/>
                  </a:moveTo>
                  <a:lnTo>
                    <a:pt x="124460" y="2467872"/>
                  </a:lnTo>
                  <a:cubicBezTo>
                    <a:pt x="55880" y="2467872"/>
                    <a:pt x="0" y="2411992"/>
                    <a:pt x="0" y="23434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2110" y="0"/>
                  </a:lnTo>
                  <a:cubicBezTo>
                    <a:pt x="3130690" y="0"/>
                    <a:pt x="3186570" y="55880"/>
                    <a:pt x="3186570" y="124460"/>
                  </a:cubicBezTo>
                  <a:lnTo>
                    <a:pt x="3186570" y="2343412"/>
                  </a:lnTo>
                  <a:cubicBezTo>
                    <a:pt x="3186570" y="2411992"/>
                    <a:pt x="3130690" y="2467872"/>
                    <a:pt x="3062110" y="246787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90043" y="249608"/>
            <a:ext cx="3195700" cy="621145"/>
            <a:chOff x="0" y="0"/>
            <a:chExt cx="2429326" cy="472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9326" cy="472186"/>
            </a:xfrm>
            <a:custGeom>
              <a:avLst/>
              <a:gdLst/>
              <a:ahLst/>
              <a:cxnLst/>
              <a:rect r="r" b="b" t="t" l="l"/>
              <a:pathLst>
                <a:path h="472186" w="2429326">
                  <a:moveTo>
                    <a:pt x="227725" y="0"/>
                  </a:moveTo>
                  <a:lnTo>
                    <a:pt x="2201601" y="0"/>
                  </a:lnTo>
                  <a:cubicBezTo>
                    <a:pt x="2327370" y="0"/>
                    <a:pt x="2429326" y="101956"/>
                    <a:pt x="2429326" y="227725"/>
                  </a:cubicBezTo>
                  <a:lnTo>
                    <a:pt x="2429326" y="244461"/>
                  </a:lnTo>
                  <a:cubicBezTo>
                    <a:pt x="2429326" y="370230"/>
                    <a:pt x="2327370" y="472186"/>
                    <a:pt x="2201601" y="472186"/>
                  </a:cubicBezTo>
                  <a:lnTo>
                    <a:pt x="227725" y="472186"/>
                  </a:lnTo>
                  <a:cubicBezTo>
                    <a:pt x="101956" y="472186"/>
                    <a:pt x="0" y="370230"/>
                    <a:pt x="0" y="244461"/>
                  </a:cubicBezTo>
                  <a:lnTo>
                    <a:pt x="0" y="227725"/>
                  </a:lnTo>
                  <a:cubicBezTo>
                    <a:pt x="0" y="101956"/>
                    <a:pt x="101956" y="0"/>
                    <a:pt x="227725" y="0"/>
                  </a:cubicBezTo>
                  <a:close/>
                </a:path>
              </a:pathLst>
            </a:custGeom>
            <a:solidFill>
              <a:srgbClr val="F4592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29326" cy="51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Empatizar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2876" y="723915"/>
            <a:ext cx="516167" cy="609571"/>
            <a:chOff x="0" y="0"/>
            <a:chExt cx="812800" cy="9598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59881"/>
            </a:xfrm>
            <a:custGeom>
              <a:avLst/>
              <a:gdLst/>
              <a:ahLst/>
              <a:cxnLst/>
              <a:rect r="r" b="b" t="t" l="l"/>
              <a:pathLst>
                <a:path h="959881" w="812800">
                  <a:moveTo>
                    <a:pt x="406400" y="0"/>
                  </a:moveTo>
                  <a:cubicBezTo>
                    <a:pt x="181951" y="0"/>
                    <a:pt x="0" y="214877"/>
                    <a:pt x="0" y="479940"/>
                  </a:cubicBezTo>
                  <a:cubicBezTo>
                    <a:pt x="0" y="745004"/>
                    <a:pt x="181951" y="959881"/>
                    <a:pt x="406400" y="959881"/>
                  </a:cubicBezTo>
                  <a:cubicBezTo>
                    <a:pt x="630849" y="959881"/>
                    <a:pt x="812800" y="745004"/>
                    <a:pt x="812800" y="479940"/>
                  </a:cubicBezTo>
                  <a:cubicBezTo>
                    <a:pt x="812800" y="2148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42364"/>
              <a:ext cx="660400" cy="82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5"/>
                </a:lnSpc>
                <a:spcBef>
                  <a:spcPct val="0"/>
                </a:spcBef>
              </a:pPr>
              <a:r>
                <a:rPr lang="en-US" b="true" sz="22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5508" y="1333485"/>
            <a:ext cx="2039267" cy="982603"/>
            <a:chOff x="0" y="0"/>
            <a:chExt cx="1094782" cy="527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4782" cy="527511"/>
            </a:xfrm>
            <a:custGeom>
              <a:avLst/>
              <a:gdLst/>
              <a:ahLst/>
              <a:cxnLst/>
              <a:rect r="r" b="b" t="t" l="l"/>
              <a:pathLst>
                <a:path h="527511" w="1094782">
                  <a:moveTo>
                    <a:pt x="83521" y="0"/>
                  </a:moveTo>
                  <a:lnTo>
                    <a:pt x="1011261" y="0"/>
                  </a:lnTo>
                  <a:cubicBezTo>
                    <a:pt x="1033412" y="0"/>
                    <a:pt x="1054656" y="8800"/>
                    <a:pt x="1070319" y="24463"/>
                  </a:cubicBezTo>
                  <a:cubicBezTo>
                    <a:pt x="1085982" y="40126"/>
                    <a:pt x="1094782" y="61370"/>
                    <a:pt x="1094782" y="83521"/>
                  </a:cubicBezTo>
                  <a:lnTo>
                    <a:pt x="1094782" y="443990"/>
                  </a:lnTo>
                  <a:cubicBezTo>
                    <a:pt x="1094782" y="490117"/>
                    <a:pt x="1057388" y="527511"/>
                    <a:pt x="1011261" y="527511"/>
                  </a:cubicBezTo>
                  <a:lnTo>
                    <a:pt x="83521" y="527511"/>
                  </a:lnTo>
                  <a:cubicBezTo>
                    <a:pt x="37394" y="527511"/>
                    <a:pt x="0" y="490117"/>
                    <a:pt x="0" y="443990"/>
                  </a:cubicBezTo>
                  <a:lnTo>
                    <a:pt x="0" y="83521"/>
                  </a:lnTo>
                  <a:cubicBezTo>
                    <a:pt x="0" y="37394"/>
                    <a:pt x="37394" y="0"/>
                    <a:pt x="83521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4782" cy="5560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Estudiantes universitarios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90032" y="536302"/>
            <a:ext cx="5507936" cy="4265678"/>
            <a:chOff x="0" y="0"/>
            <a:chExt cx="3186570" cy="24678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86570" cy="2467872"/>
            </a:xfrm>
            <a:custGeom>
              <a:avLst/>
              <a:gdLst/>
              <a:ahLst/>
              <a:cxnLst/>
              <a:rect r="r" b="b" t="t" l="l"/>
              <a:pathLst>
                <a:path h="2467872" w="3186570">
                  <a:moveTo>
                    <a:pt x="3062110" y="2467872"/>
                  </a:moveTo>
                  <a:lnTo>
                    <a:pt x="124460" y="2467872"/>
                  </a:lnTo>
                  <a:cubicBezTo>
                    <a:pt x="55880" y="2467872"/>
                    <a:pt x="0" y="2411992"/>
                    <a:pt x="0" y="23434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2110" y="0"/>
                  </a:lnTo>
                  <a:cubicBezTo>
                    <a:pt x="3130690" y="0"/>
                    <a:pt x="3186570" y="55880"/>
                    <a:pt x="3186570" y="124460"/>
                  </a:cubicBezTo>
                  <a:lnTo>
                    <a:pt x="3186570" y="2343412"/>
                  </a:lnTo>
                  <a:cubicBezTo>
                    <a:pt x="3186570" y="2411992"/>
                    <a:pt x="3130690" y="2467872"/>
                    <a:pt x="3062110" y="246787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59268" y="249608"/>
            <a:ext cx="3195700" cy="621145"/>
            <a:chOff x="0" y="0"/>
            <a:chExt cx="2429326" cy="472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9326" cy="472186"/>
            </a:xfrm>
            <a:custGeom>
              <a:avLst/>
              <a:gdLst/>
              <a:ahLst/>
              <a:cxnLst/>
              <a:rect r="r" b="b" t="t" l="l"/>
              <a:pathLst>
                <a:path h="472186" w="2429326">
                  <a:moveTo>
                    <a:pt x="227725" y="0"/>
                  </a:moveTo>
                  <a:lnTo>
                    <a:pt x="2201601" y="0"/>
                  </a:lnTo>
                  <a:cubicBezTo>
                    <a:pt x="2327370" y="0"/>
                    <a:pt x="2429326" y="101956"/>
                    <a:pt x="2429326" y="227725"/>
                  </a:cubicBezTo>
                  <a:lnTo>
                    <a:pt x="2429326" y="244461"/>
                  </a:lnTo>
                  <a:cubicBezTo>
                    <a:pt x="2429326" y="370230"/>
                    <a:pt x="2327370" y="472186"/>
                    <a:pt x="2201601" y="472186"/>
                  </a:cubicBezTo>
                  <a:lnTo>
                    <a:pt x="227725" y="472186"/>
                  </a:lnTo>
                  <a:cubicBezTo>
                    <a:pt x="101956" y="472186"/>
                    <a:pt x="0" y="370230"/>
                    <a:pt x="0" y="244461"/>
                  </a:cubicBezTo>
                  <a:lnTo>
                    <a:pt x="0" y="227725"/>
                  </a:lnTo>
                  <a:cubicBezTo>
                    <a:pt x="0" y="101956"/>
                    <a:pt x="101956" y="0"/>
                    <a:pt x="227725" y="0"/>
                  </a:cubicBezTo>
                  <a:close/>
                </a:path>
              </a:pathLst>
            </a:custGeom>
            <a:solidFill>
              <a:srgbClr val="7ED95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429326" cy="51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Definir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62101" y="723915"/>
            <a:ext cx="516167" cy="609571"/>
            <a:chOff x="0" y="0"/>
            <a:chExt cx="812800" cy="9598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959881"/>
            </a:xfrm>
            <a:custGeom>
              <a:avLst/>
              <a:gdLst/>
              <a:ahLst/>
              <a:cxnLst/>
              <a:rect r="r" b="b" t="t" l="l"/>
              <a:pathLst>
                <a:path h="959881" w="812800">
                  <a:moveTo>
                    <a:pt x="406400" y="0"/>
                  </a:moveTo>
                  <a:cubicBezTo>
                    <a:pt x="181951" y="0"/>
                    <a:pt x="0" y="214877"/>
                    <a:pt x="0" y="479940"/>
                  </a:cubicBezTo>
                  <a:cubicBezTo>
                    <a:pt x="0" y="745004"/>
                    <a:pt x="181951" y="959881"/>
                    <a:pt x="406400" y="959881"/>
                  </a:cubicBezTo>
                  <a:cubicBezTo>
                    <a:pt x="630849" y="959881"/>
                    <a:pt x="812800" y="745004"/>
                    <a:pt x="812800" y="479940"/>
                  </a:cubicBezTo>
                  <a:cubicBezTo>
                    <a:pt x="812800" y="2148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2364"/>
              <a:ext cx="660400" cy="82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5"/>
                </a:lnSpc>
                <a:spcBef>
                  <a:spcPct val="0"/>
                </a:spcBef>
              </a:pPr>
              <a:r>
                <a:rPr lang="en-US" b="true" sz="22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19826" y="1664426"/>
            <a:ext cx="3284097" cy="1879397"/>
            <a:chOff x="0" y="0"/>
            <a:chExt cx="1763070" cy="10089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63070" cy="1008955"/>
            </a:xfrm>
            <a:custGeom>
              <a:avLst/>
              <a:gdLst/>
              <a:ahLst/>
              <a:cxnLst/>
              <a:rect r="r" b="b" t="t" l="l"/>
              <a:pathLst>
                <a:path h="1008955" w="1763070">
                  <a:moveTo>
                    <a:pt x="51863" y="0"/>
                  </a:moveTo>
                  <a:lnTo>
                    <a:pt x="1711207" y="0"/>
                  </a:lnTo>
                  <a:cubicBezTo>
                    <a:pt x="1724962" y="0"/>
                    <a:pt x="1738154" y="5464"/>
                    <a:pt x="1747880" y="15190"/>
                  </a:cubicBezTo>
                  <a:cubicBezTo>
                    <a:pt x="1757606" y="24916"/>
                    <a:pt x="1763070" y="38108"/>
                    <a:pt x="1763070" y="51863"/>
                  </a:cubicBezTo>
                  <a:lnTo>
                    <a:pt x="1763070" y="957093"/>
                  </a:lnTo>
                  <a:cubicBezTo>
                    <a:pt x="1763070" y="985736"/>
                    <a:pt x="1739850" y="1008955"/>
                    <a:pt x="1711207" y="1008955"/>
                  </a:cubicBezTo>
                  <a:lnTo>
                    <a:pt x="51863" y="1008955"/>
                  </a:lnTo>
                  <a:cubicBezTo>
                    <a:pt x="23220" y="1008955"/>
                    <a:pt x="0" y="985736"/>
                    <a:pt x="0" y="957093"/>
                  </a:cubicBezTo>
                  <a:lnTo>
                    <a:pt x="0" y="51863"/>
                  </a:lnTo>
                  <a:cubicBezTo>
                    <a:pt x="0" y="23220"/>
                    <a:pt x="23220" y="0"/>
                    <a:pt x="51863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763070" cy="103753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379"/>
                </a:lnSpc>
              </a:pPr>
              <a:r>
                <a:rPr lang="en-US" sz="1699" spc="-33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Los clientes de la cafetería necesitan una forma rápida y sencilla de realizar su pedido para evitar filas y ahorrar tiempo.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55143" y="471285"/>
            <a:ext cx="5507936" cy="4265678"/>
            <a:chOff x="0" y="0"/>
            <a:chExt cx="3186570" cy="2467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6570" cy="2467872"/>
            </a:xfrm>
            <a:custGeom>
              <a:avLst/>
              <a:gdLst/>
              <a:ahLst/>
              <a:cxnLst/>
              <a:rect r="r" b="b" t="t" l="l"/>
              <a:pathLst>
                <a:path h="2467872" w="3186570">
                  <a:moveTo>
                    <a:pt x="3062110" y="2467872"/>
                  </a:moveTo>
                  <a:lnTo>
                    <a:pt x="124460" y="2467872"/>
                  </a:lnTo>
                  <a:cubicBezTo>
                    <a:pt x="55880" y="2467872"/>
                    <a:pt x="0" y="2411992"/>
                    <a:pt x="0" y="23434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2110" y="0"/>
                  </a:lnTo>
                  <a:cubicBezTo>
                    <a:pt x="3130690" y="0"/>
                    <a:pt x="3186570" y="55880"/>
                    <a:pt x="3186570" y="124460"/>
                  </a:cubicBezTo>
                  <a:lnTo>
                    <a:pt x="3186570" y="2343412"/>
                  </a:lnTo>
                  <a:cubicBezTo>
                    <a:pt x="3186570" y="2411992"/>
                    <a:pt x="3130690" y="2467872"/>
                    <a:pt x="3062110" y="246787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324378" y="184591"/>
            <a:ext cx="3195700" cy="621145"/>
            <a:chOff x="0" y="0"/>
            <a:chExt cx="2429326" cy="4721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29326" cy="472186"/>
            </a:xfrm>
            <a:custGeom>
              <a:avLst/>
              <a:gdLst/>
              <a:ahLst/>
              <a:cxnLst/>
              <a:rect r="r" b="b" t="t" l="l"/>
              <a:pathLst>
                <a:path h="472186" w="2429326">
                  <a:moveTo>
                    <a:pt x="227725" y="0"/>
                  </a:moveTo>
                  <a:lnTo>
                    <a:pt x="2201601" y="0"/>
                  </a:lnTo>
                  <a:cubicBezTo>
                    <a:pt x="2327370" y="0"/>
                    <a:pt x="2429326" y="101956"/>
                    <a:pt x="2429326" y="227725"/>
                  </a:cubicBezTo>
                  <a:lnTo>
                    <a:pt x="2429326" y="244461"/>
                  </a:lnTo>
                  <a:cubicBezTo>
                    <a:pt x="2429326" y="370230"/>
                    <a:pt x="2327370" y="472186"/>
                    <a:pt x="2201601" y="472186"/>
                  </a:cubicBezTo>
                  <a:lnTo>
                    <a:pt x="227725" y="472186"/>
                  </a:lnTo>
                  <a:cubicBezTo>
                    <a:pt x="101956" y="472186"/>
                    <a:pt x="0" y="370230"/>
                    <a:pt x="0" y="244461"/>
                  </a:cubicBezTo>
                  <a:lnTo>
                    <a:pt x="0" y="227725"/>
                  </a:lnTo>
                  <a:cubicBezTo>
                    <a:pt x="0" y="101956"/>
                    <a:pt x="101956" y="0"/>
                    <a:pt x="227725" y="0"/>
                  </a:cubicBezTo>
                  <a:close/>
                </a:path>
              </a:pathLst>
            </a:custGeom>
            <a:solidFill>
              <a:srgbClr val="5E17E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429326" cy="51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Idear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27211" y="658898"/>
            <a:ext cx="516167" cy="609571"/>
            <a:chOff x="0" y="0"/>
            <a:chExt cx="812800" cy="9598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959881"/>
            </a:xfrm>
            <a:custGeom>
              <a:avLst/>
              <a:gdLst/>
              <a:ahLst/>
              <a:cxnLst/>
              <a:rect r="r" b="b" t="t" l="l"/>
              <a:pathLst>
                <a:path h="959881" w="812800">
                  <a:moveTo>
                    <a:pt x="406400" y="0"/>
                  </a:moveTo>
                  <a:cubicBezTo>
                    <a:pt x="181951" y="0"/>
                    <a:pt x="0" y="214877"/>
                    <a:pt x="0" y="479940"/>
                  </a:cubicBezTo>
                  <a:cubicBezTo>
                    <a:pt x="0" y="745004"/>
                    <a:pt x="181951" y="959881"/>
                    <a:pt x="406400" y="959881"/>
                  </a:cubicBezTo>
                  <a:cubicBezTo>
                    <a:pt x="630849" y="959881"/>
                    <a:pt x="812800" y="745004"/>
                    <a:pt x="812800" y="479940"/>
                  </a:cubicBezTo>
                  <a:cubicBezTo>
                    <a:pt x="812800" y="2148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2364"/>
              <a:ext cx="660400" cy="82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5"/>
                </a:lnSpc>
                <a:spcBef>
                  <a:spcPct val="0"/>
                </a:spcBef>
              </a:pPr>
              <a:r>
                <a:rPr lang="en-US" b="true" sz="22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24378" y="1162515"/>
            <a:ext cx="1468559" cy="1506626"/>
            <a:chOff x="0" y="0"/>
            <a:chExt cx="788397" cy="8088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8397" cy="808833"/>
            </a:xfrm>
            <a:custGeom>
              <a:avLst/>
              <a:gdLst/>
              <a:ahLst/>
              <a:cxnLst/>
              <a:rect r="r" b="b" t="t" l="l"/>
              <a:pathLst>
                <a:path h="808833" w="788397">
                  <a:moveTo>
                    <a:pt x="115979" y="0"/>
                  </a:moveTo>
                  <a:lnTo>
                    <a:pt x="672418" y="0"/>
                  </a:lnTo>
                  <a:cubicBezTo>
                    <a:pt x="736471" y="0"/>
                    <a:pt x="788397" y="51926"/>
                    <a:pt x="788397" y="115979"/>
                  </a:cubicBezTo>
                  <a:lnTo>
                    <a:pt x="788397" y="692854"/>
                  </a:lnTo>
                  <a:cubicBezTo>
                    <a:pt x="788397" y="723614"/>
                    <a:pt x="776178" y="753114"/>
                    <a:pt x="754427" y="774864"/>
                  </a:cubicBezTo>
                  <a:cubicBezTo>
                    <a:pt x="732677" y="796614"/>
                    <a:pt x="703177" y="808833"/>
                    <a:pt x="672418" y="808833"/>
                  </a:cubicBezTo>
                  <a:lnTo>
                    <a:pt x="115979" y="808833"/>
                  </a:lnTo>
                  <a:cubicBezTo>
                    <a:pt x="51926" y="808833"/>
                    <a:pt x="0" y="756908"/>
                    <a:pt x="0" y="692854"/>
                  </a:cubicBezTo>
                  <a:lnTo>
                    <a:pt x="0" y="115979"/>
                  </a:lnTo>
                  <a:cubicBezTo>
                    <a:pt x="0" y="51926"/>
                    <a:pt x="51926" y="0"/>
                    <a:pt x="115979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88397" cy="84693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Aplicación web para pedidos anticipados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224106" y="1162515"/>
            <a:ext cx="1447195" cy="1506626"/>
            <a:chOff x="0" y="0"/>
            <a:chExt cx="776928" cy="8088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6928" cy="808833"/>
            </a:xfrm>
            <a:custGeom>
              <a:avLst/>
              <a:gdLst/>
              <a:ahLst/>
              <a:cxnLst/>
              <a:rect r="r" b="b" t="t" l="l"/>
              <a:pathLst>
                <a:path h="808833" w="776928">
                  <a:moveTo>
                    <a:pt x="117691" y="0"/>
                  </a:moveTo>
                  <a:lnTo>
                    <a:pt x="659237" y="0"/>
                  </a:lnTo>
                  <a:cubicBezTo>
                    <a:pt x="724236" y="0"/>
                    <a:pt x="776928" y="52692"/>
                    <a:pt x="776928" y="117691"/>
                  </a:cubicBezTo>
                  <a:lnTo>
                    <a:pt x="776928" y="691142"/>
                  </a:lnTo>
                  <a:cubicBezTo>
                    <a:pt x="776928" y="722356"/>
                    <a:pt x="764528" y="752291"/>
                    <a:pt x="742457" y="774362"/>
                  </a:cubicBezTo>
                  <a:cubicBezTo>
                    <a:pt x="720386" y="796434"/>
                    <a:pt x="690450" y="808833"/>
                    <a:pt x="659237" y="808833"/>
                  </a:cubicBezTo>
                  <a:lnTo>
                    <a:pt x="117691" y="808833"/>
                  </a:lnTo>
                  <a:cubicBezTo>
                    <a:pt x="52692" y="808833"/>
                    <a:pt x="0" y="756141"/>
                    <a:pt x="0" y="691142"/>
                  </a:cubicBezTo>
                  <a:lnTo>
                    <a:pt x="0" y="117691"/>
                  </a:lnTo>
                  <a:cubicBezTo>
                    <a:pt x="0" y="86478"/>
                    <a:pt x="12400" y="56542"/>
                    <a:pt x="34471" y="34471"/>
                  </a:cubicBezTo>
                  <a:cubicBezTo>
                    <a:pt x="56542" y="12400"/>
                    <a:pt x="86478" y="0"/>
                    <a:pt x="117691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76928" cy="84693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Pago en línea o contra entrega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15643" y="5430195"/>
            <a:ext cx="5507936" cy="4265678"/>
            <a:chOff x="0" y="0"/>
            <a:chExt cx="3186570" cy="24678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86570" cy="2467872"/>
            </a:xfrm>
            <a:custGeom>
              <a:avLst/>
              <a:gdLst/>
              <a:ahLst/>
              <a:cxnLst/>
              <a:rect r="r" b="b" t="t" l="l"/>
              <a:pathLst>
                <a:path h="2467872" w="3186570">
                  <a:moveTo>
                    <a:pt x="3062110" y="2467872"/>
                  </a:moveTo>
                  <a:lnTo>
                    <a:pt x="124460" y="2467872"/>
                  </a:lnTo>
                  <a:cubicBezTo>
                    <a:pt x="55880" y="2467872"/>
                    <a:pt x="0" y="2411992"/>
                    <a:pt x="0" y="23434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2110" y="0"/>
                  </a:lnTo>
                  <a:cubicBezTo>
                    <a:pt x="3130690" y="0"/>
                    <a:pt x="3186570" y="55880"/>
                    <a:pt x="3186570" y="124460"/>
                  </a:cubicBezTo>
                  <a:lnTo>
                    <a:pt x="3186570" y="2343412"/>
                  </a:lnTo>
                  <a:cubicBezTo>
                    <a:pt x="3186570" y="2411992"/>
                    <a:pt x="3130690" y="2467872"/>
                    <a:pt x="3062110" y="246787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184879" y="5143500"/>
            <a:ext cx="3195700" cy="621145"/>
            <a:chOff x="0" y="0"/>
            <a:chExt cx="2429326" cy="47218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29326" cy="472186"/>
            </a:xfrm>
            <a:custGeom>
              <a:avLst/>
              <a:gdLst/>
              <a:ahLst/>
              <a:cxnLst/>
              <a:rect r="r" b="b" t="t" l="l"/>
              <a:pathLst>
                <a:path h="472186" w="2429326">
                  <a:moveTo>
                    <a:pt x="227725" y="0"/>
                  </a:moveTo>
                  <a:lnTo>
                    <a:pt x="2201601" y="0"/>
                  </a:lnTo>
                  <a:cubicBezTo>
                    <a:pt x="2327370" y="0"/>
                    <a:pt x="2429326" y="101956"/>
                    <a:pt x="2429326" y="227725"/>
                  </a:cubicBezTo>
                  <a:lnTo>
                    <a:pt x="2429326" y="244461"/>
                  </a:lnTo>
                  <a:cubicBezTo>
                    <a:pt x="2429326" y="370230"/>
                    <a:pt x="2327370" y="472186"/>
                    <a:pt x="2201601" y="472186"/>
                  </a:cubicBezTo>
                  <a:lnTo>
                    <a:pt x="227725" y="472186"/>
                  </a:lnTo>
                  <a:cubicBezTo>
                    <a:pt x="101956" y="472186"/>
                    <a:pt x="0" y="370230"/>
                    <a:pt x="0" y="244461"/>
                  </a:cubicBezTo>
                  <a:lnTo>
                    <a:pt x="0" y="227725"/>
                  </a:lnTo>
                  <a:cubicBezTo>
                    <a:pt x="0" y="101956"/>
                    <a:pt x="101956" y="0"/>
                    <a:pt x="227725" y="0"/>
                  </a:cubicBezTo>
                  <a:close/>
                </a:path>
              </a:pathLst>
            </a:custGeom>
            <a:solidFill>
              <a:srgbClr val="FF66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429326" cy="51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Prototipar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287712" y="5617807"/>
            <a:ext cx="516167" cy="609571"/>
            <a:chOff x="0" y="0"/>
            <a:chExt cx="812800" cy="95988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959881"/>
            </a:xfrm>
            <a:custGeom>
              <a:avLst/>
              <a:gdLst/>
              <a:ahLst/>
              <a:cxnLst/>
              <a:rect r="r" b="b" t="t" l="l"/>
              <a:pathLst>
                <a:path h="959881" w="812800">
                  <a:moveTo>
                    <a:pt x="406400" y="0"/>
                  </a:moveTo>
                  <a:cubicBezTo>
                    <a:pt x="181951" y="0"/>
                    <a:pt x="0" y="214877"/>
                    <a:pt x="0" y="479940"/>
                  </a:cubicBezTo>
                  <a:cubicBezTo>
                    <a:pt x="0" y="745004"/>
                    <a:pt x="181951" y="959881"/>
                    <a:pt x="406400" y="959881"/>
                  </a:cubicBezTo>
                  <a:cubicBezTo>
                    <a:pt x="630849" y="959881"/>
                    <a:pt x="812800" y="745004"/>
                    <a:pt x="812800" y="479940"/>
                  </a:cubicBezTo>
                  <a:cubicBezTo>
                    <a:pt x="812800" y="2148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42364"/>
              <a:ext cx="660400" cy="82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5"/>
                </a:lnSpc>
                <a:spcBef>
                  <a:spcPct val="0"/>
                </a:spcBef>
              </a:pPr>
              <a:r>
                <a:rPr lang="en-US" b="true" sz="22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75452" y="5460150"/>
            <a:ext cx="5507936" cy="4265678"/>
            <a:chOff x="0" y="0"/>
            <a:chExt cx="3186570" cy="24678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86570" cy="2467872"/>
            </a:xfrm>
            <a:custGeom>
              <a:avLst/>
              <a:gdLst/>
              <a:ahLst/>
              <a:cxnLst/>
              <a:rect r="r" b="b" t="t" l="l"/>
              <a:pathLst>
                <a:path h="2467872" w="3186570">
                  <a:moveTo>
                    <a:pt x="3062110" y="2467872"/>
                  </a:moveTo>
                  <a:lnTo>
                    <a:pt x="124460" y="2467872"/>
                  </a:lnTo>
                  <a:cubicBezTo>
                    <a:pt x="55880" y="2467872"/>
                    <a:pt x="0" y="2411992"/>
                    <a:pt x="0" y="234341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2110" y="0"/>
                  </a:lnTo>
                  <a:cubicBezTo>
                    <a:pt x="3130690" y="0"/>
                    <a:pt x="3186570" y="55880"/>
                    <a:pt x="3186570" y="124460"/>
                  </a:cubicBezTo>
                  <a:lnTo>
                    <a:pt x="3186570" y="2343412"/>
                  </a:lnTo>
                  <a:cubicBezTo>
                    <a:pt x="3186570" y="2411992"/>
                    <a:pt x="3130690" y="2467872"/>
                    <a:pt x="3062110" y="2467872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244687" y="5173455"/>
            <a:ext cx="3195700" cy="621145"/>
            <a:chOff x="0" y="0"/>
            <a:chExt cx="2429326" cy="47218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29326" cy="472186"/>
            </a:xfrm>
            <a:custGeom>
              <a:avLst/>
              <a:gdLst/>
              <a:ahLst/>
              <a:cxnLst/>
              <a:rect r="r" b="b" t="t" l="l"/>
              <a:pathLst>
                <a:path h="472186" w="2429326">
                  <a:moveTo>
                    <a:pt x="227725" y="0"/>
                  </a:moveTo>
                  <a:lnTo>
                    <a:pt x="2201601" y="0"/>
                  </a:lnTo>
                  <a:cubicBezTo>
                    <a:pt x="2327370" y="0"/>
                    <a:pt x="2429326" y="101956"/>
                    <a:pt x="2429326" y="227725"/>
                  </a:cubicBezTo>
                  <a:lnTo>
                    <a:pt x="2429326" y="244461"/>
                  </a:lnTo>
                  <a:cubicBezTo>
                    <a:pt x="2429326" y="370230"/>
                    <a:pt x="2327370" y="472186"/>
                    <a:pt x="2201601" y="472186"/>
                  </a:cubicBezTo>
                  <a:lnTo>
                    <a:pt x="227725" y="472186"/>
                  </a:lnTo>
                  <a:cubicBezTo>
                    <a:pt x="101956" y="472186"/>
                    <a:pt x="0" y="370230"/>
                    <a:pt x="0" y="244461"/>
                  </a:cubicBezTo>
                  <a:lnTo>
                    <a:pt x="0" y="227725"/>
                  </a:lnTo>
                  <a:cubicBezTo>
                    <a:pt x="0" y="101956"/>
                    <a:pt x="101956" y="0"/>
                    <a:pt x="227725" y="0"/>
                  </a:cubicBezTo>
                  <a:close/>
                </a:path>
              </a:pathLst>
            </a:custGeom>
            <a:solidFill>
              <a:srgbClr val="FF31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2429326" cy="519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Testear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47520" y="5647762"/>
            <a:ext cx="516167" cy="609571"/>
            <a:chOff x="0" y="0"/>
            <a:chExt cx="812800" cy="95988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959881"/>
            </a:xfrm>
            <a:custGeom>
              <a:avLst/>
              <a:gdLst/>
              <a:ahLst/>
              <a:cxnLst/>
              <a:rect r="r" b="b" t="t" l="l"/>
              <a:pathLst>
                <a:path h="959881" w="812800">
                  <a:moveTo>
                    <a:pt x="406400" y="0"/>
                  </a:moveTo>
                  <a:cubicBezTo>
                    <a:pt x="181951" y="0"/>
                    <a:pt x="0" y="214877"/>
                    <a:pt x="0" y="479940"/>
                  </a:cubicBezTo>
                  <a:cubicBezTo>
                    <a:pt x="0" y="745004"/>
                    <a:pt x="181951" y="959881"/>
                    <a:pt x="406400" y="959881"/>
                  </a:cubicBezTo>
                  <a:cubicBezTo>
                    <a:pt x="630849" y="959881"/>
                    <a:pt x="812800" y="745004"/>
                    <a:pt x="812800" y="479940"/>
                  </a:cubicBezTo>
                  <a:cubicBezTo>
                    <a:pt x="812800" y="2148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1FC4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42364"/>
              <a:ext cx="660400" cy="827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85"/>
                </a:lnSpc>
                <a:spcBef>
                  <a:spcPct val="0"/>
                </a:spcBef>
              </a:pPr>
              <a:r>
                <a:rPr lang="en-US" b="true" sz="220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63687" y="5952548"/>
            <a:ext cx="2120301" cy="1308319"/>
            <a:chOff x="0" y="0"/>
            <a:chExt cx="1138285" cy="7023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8285" cy="702372"/>
            </a:xfrm>
            <a:custGeom>
              <a:avLst/>
              <a:gdLst/>
              <a:ahLst/>
              <a:cxnLst/>
              <a:rect r="r" b="b" t="t" l="l"/>
              <a:pathLst>
                <a:path h="702372" w="1138285">
                  <a:moveTo>
                    <a:pt x="80329" y="0"/>
                  </a:moveTo>
                  <a:lnTo>
                    <a:pt x="1057956" y="0"/>
                  </a:lnTo>
                  <a:cubicBezTo>
                    <a:pt x="1102320" y="0"/>
                    <a:pt x="1138285" y="35965"/>
                    <a:pt x="1138285" y="80329"/>
                  </a:cubicBezTo>
                  <a:lnTo>
                    <a:pt x="1138285" y="622043"/>
                  </a:lnTo>
                  <a:cubicBezTo>
                    <a:pt x="1138285" y="643347"/>
                    <a:pt x="1129822" y="663779"/>
                    <a:pt x="1114757" y="678844"/>
                  </a:cubicBezTo>
                  <a:cubicBezTo>
                    <a:pt x="1099692" y="693909"/>
                    <a:pt x="1079260" y="702372"/>
                    <a:pt x="1057956" y="702372"/>
                  </a:cubicBezTo>
                  <a:lnTo>
                    <a:pt x="80329" y="702372"/>
                  </a:lnTo>
                  <a:cubicBezTo>
                    <a:pt x="59025" y="702372"/>
                    <a:pt x="38593" y="693909"/>
                    <a:pt x="23528" y="678844"/>
                  </a:cubicBezTo>
                  <a:cubicBezTo>
                    <a:pt x="8463" y="663779"/>
                    <a:pt x="0" y="643347"/>
                    <a:pt x="0" y="622043"/>
                  </a:cubicBezTo>
                  <a:lnTo>
                    <a:pt x="0" y="80329"/>
                  </a:lnTo>
                  <a:cubicBezTo>
                    <a:pt x="0" y="59025"/>
                    <a:pt x="8463" y="38593"/>
                    <a:pt x="23528" y="23528"/>
                  </a:cubicBezTo>
                  <a:cubicBezTo>
                    <a:pt x="38593" y="8463"/>
                    <a:pt x="59025" y="0"/>
                    <a:pt x="80329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138285" cy="74047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¿Qué mejorarías?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545795" y="1764589"/>
            <a:ext cx="2125678" cy="982603"/>
            <a:chOff x="0" y="0"/>
            <a:chExt cx="1141172" cy="5275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1172" cy="527511"/>
            </a:xfrm>
            <a:custGeom>
              <a:avLst/>
              <a:gdLst/>
              <a:ahLst/>
              <a:cxnLst/>
              <a:rect r="r" b="b" t="t" l="l"/>
              <a:pathLst>
                <a:path h="527511" w="1141172">
                  <a:moveTo>
                    <a:pt x="80126" y="0"/>
                  </a:moveTo>
                  <a:lnTo>
                    <a:pt x="1061046" y="0"/>
                  </a:lnTo>
                  <a:cubicBezTo>
                    <a:pt x="1082296" y="0"/>
                    <a:pt x="1102677" y="8442"/>
                    <a:pt x="1117703" y="23468"/>
                  </a:cubicBezTo>
                  <a:cubicBezTo>
                    <a:pt x="1132730" y="38495"/>
                    <a:pt x="1141172" y="58875"/>
                    <a:pt x="1141172" y="80126"/>
                  </a:cubicBezTo>
                  <a:lnTo>
                    <a:pt x="1141172" y="447385"/>
                  </a:lnTo>
                  <a:cubicBezTo>
                    <a:pt x="1141172" y="468636"/>
                    <a:pt x="1132730" y="489016"/>
                    <a:pt x="1117703" y="504043"/>
                  </a:cubicBezTo>
                  <a:cubicBezTo>
                    <a:pt x="1102677" y="519069"/>
                    <a:pt x="1082296" y="527511"/>
                    <a:pt x="1061046" y="527511"/>
                  </a:cubicBezTo>
                  <a:lnTo>
                    <a:pt x="80126" y="527511"/>
                  </a:lnTo>
                  <a:cubicBezTo>
                    <a:pt x="58875" y="527511"/>
                    <a:pt x="38495" y="519069"/>
                    <a:pt x="23468" y="504043"/>
                  </a:cubicBezTo>
                  <a:cubicBezTo>
                    <a:pt x="8442" y="489016"/>
                    <a:pt x="0" y="468636"/>
                    <a:pt x="0" y="447385"/>
                  </a:cubicBezTo>
                  <a:lnTo>
                    <a:pt x="0" y="80126"/>
                  </a:lnTo>
                  <a:cubicBezTo>
                    <a:pt x="0" y="58875"/>
                    <a:pt x="8442" y="38495"/>
                    <a:pt x="23468" y="23468"/>
                  </a:cubicBezTo>
                  <a:cubicBezTo>
                    <a:pt x="38495" y="8442"/>
                    <a:pt x="58875" y="0"/>
                    <a:pt x="8012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141172" cy="5560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Clientes con poco tiempo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50959" y="2747191"/>
            <a:ext cx="2125678" cy="982603"/>
            <a:chOff x="0" y="0"/>
            <a:chExt cx="1141172" cy="5275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41172" cy="527511"/>
            </a:xfrm>
            <a:custGeom>
              <a:avLst/>
              <a:gdLst/>
              <a:ahLst/>
              <a:cxnLst/>
              <a:rect r="r" b="b" t="t" l="l"/>
              <a:pathLst>
                <a:path h="527511" w="1141172">
                  <a:moveTo>
                    <a:pt x="80126" y="0"/>
                  </a:moveTo>
                  <a:lnTo>
                    <a:pt x="1061046" y="0"/>
                  </a:lnTo>
                  <a:cubicBezTo>
                    <a:pt x="1082296" y="0"/>
                    <a:pt x="1102677" y="8442"/>
                    <a:pt x="1117703" y="23468"/>
                  </a:cubicBezTo>
                  <a:cubicBezTo>
                    <a:pt x="1132730" y="38495"/>
                    <a:pt x="1141172" y="58875"/>
                    <a:pt x="1141172" y="80126"/>
                  </a:cubicBezTo>
                  <a:lnTo>
                    <a:pt x="1141172" y="447385"/>
                  </a:lnTo>
                  <a:cubicBezTo>
                    <a:pt x="1141172" y="468636"/>
                    <a:pt x="1132730" y="489016"/>
                    <a:pt x="1117703" y="504043"/>
                  </a:cubicBezTo>
                  <a:cubicBezTo>
                    <a:pt x="1102677" y="519069"/>
                    <a:pt x="1082296" y="527511"/>
                    <a:pt x="1061046" y="527511"/>
                  </a:cubicBezTo>
                  <a:lnTo>
                    <a:pt x="80126" y="527511"/>
                  </a:lnTo>
                  <a:cubicBezTo>
                    <a:pt x="58875" y="527511"/>
                    <a:pt x="38495" y="519069"/>
                    <a:pt x="23468" y="504043"/>
                  </a:cubicBezTo>
                  <a:cubicBezTo>
                    <a:pt x="8442" y="489016"/>
                    <a:pt x="0" y="468636"/>
                    <a:pt x="0" y="447385"/>
                  </a:cubicBezTo>
                  <a:lnTo>
                    <a:pt x="0" y="80126"/>
                  </a:lnTo>
                  <a:cubicBezTo>
                    <a:pt x="0" y="58875"/>
                    <a:pt x="8442" y="38495"/>
                    <a:pt x="23468" y="23468"/>
                  </a:cubicBezTo>
                  <a:cubicBezTo>
                    <a:pt x="38495" y="8442"/>
                    <a:pt x="58875" y="0"/>
                    <a:pt x="8012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141172" cy="5560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Filas largas en hora pico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374775" y="3271843"/>
            <a:ext cx="2125678" cy="982603"/>
            <a:chOff x="0" y="0"/>
            <a:chExt cx="1141172" cy="5275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41172" cy="527511"/>
            </a:xfrm>
            <a:custGeom>
              <a:avLst/>
              <a:gdLst/>
              <a:ahLst/>
              <a:cxnLst/>
              <a:rect r="r" b="b" t="t" l="l"/>
              <a:pathLst>
                <a:path h="527511" w="1141172">
                  <a:moveTo>
                    <a:pt x="80126" y="0"/>
                  </a:moveTo>
                  <a:lnTo>
                    <a:pt x="1061046" y="0"/>
                  </a:lnTo>
                  <a:cubicBezTo>
                    <a:pt x="1082296" y="0"/>
                    <a:pt x="1102677" y="8442"/>
                    <a:pt x="1117703" y="23468"/>
                  </a:cubicBezTo>
                  <a:cubicBezTo>
                    <a:pt x="1132730" y="38495"/>
                    <a:pt x="1141172" y="58875"/>
                    <a:pt x="1141172" y="80126"/>
                  </a:cubicBezTo>
                  <a:lnTo>
                    <a:pt x="1141172" y="447385"/>
                  </a:lnTo>
                  <a:cubicBezTo>
                    <a:pt x="1141172" y="468636"/>
                    <a:pt x="1132730" y="489016"/>
                    <a:pt x="1117703" y="504043"/>
                  </a:cubicBezTo>
                  <a:cubicBezTo>
                    <a:pt x="1102677" y="519069"/>
                    <a:pt x="1082296" y="527511"/>
                    <a:pt x="1061046" y="527511"/>
                  </a:cubicBezTo>
                  <a:lnTo>
                    <a:pt x="80126" y="527511"/>
                  </a:lnTo>
                  <a:cubicBezTo>
                    <a:pt x="58875" y="527511"/>
                    <a:pt x="38495" y="519069"/>
                    <a:pt x="23468" y="504043"/>
                  </a:cubicBezTo>
                  <a:cubicBezTo>
                    <a:pt x="8442" y="489016"/>
                    <a:pt x="0" y="468636"/>
                    <a:pt x="0" y="447385"/>
                  </a:cubicBezTo>
                  <a:lnTo>
                    <a:pt x="0" y="80126"/>
                  </a:lnTo>
                  <a:cubicBezTo>
                    <a:pt x="0" y="58875"/>
                    <a:pt x="8442" y="38495"/>
                    <a:pt x="23468" y="23468"/>
                  </a:cubicBezTo>
                  <a:cubicBezTo>
                    <a:pt x="38495" y="8442"/>
                    <a:pt x="58875" y="0"/>
                    <a:pt x="8012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141172" cy="5560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Proceso de pago lento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224106" y="2812541"/>
            <a:ext cx="1406742" cy="1498471"/>
            <a:chOff x="0" y="0"/>
            <a:chExt cx="755211" cy="80445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5211" cy="804455"/>
            </a:xfrm>
            <a:custGeom>
              <a:avLst/>
              <a:gdLst/>
              <a:ahLst/>
              <a:cxnLst/>
              <a:rect r="r" b="b" t="t" l="l"/>
              <a:pathLst>
                <a:path h="804455" w="755211">
                  <a:moveTo>
                    <a:pt x="121076" y="0"/>
                  </a:moveTo>
                  <a:lnTo>
                    <a:pt x="634135" y="0"/>
                  </a:lnTo>
                  <a:cubicBezTo>
                    <a:pt x="666246" y="0"/>
                    <a:pt x="697042" y="12756"/>
                    <a:pt x="719748" y="35462"/>
                  </a:cubicBezTo>
                  <a:cubicBezTo>
                    <a:pt x="742454" y="58168"/>
                    <a:pt x="755211" y="88964"/>
                    <a:pt x="755211" y="121076"/>
                  </a:cubicBezTo>
                  <a:lnTo>
                    <a:pt x="755211" y="683379"/>
                  </a:lnTo>
                  <a:cubicBezTo>
                    <a:pt x="755211" y="750248"/>
                    <a:pt x="701003" y="804455"/>
                    <a:pt x="634135" y="804455"/>
                  </a:cubicBezTo>
                  <a:lnTo>
                    <a:pt x="121076" y="804455"/>
                  </a:lnTo>
                  <a:cubicBezTo>
                    <a:pt x="54207" y="804455"/>
                    <a:pt x="0" y="750248"/>
                    <a:pt x="0" y="683379"/>
                  </a:cubicBezTo>
                  <a:lnTo>
                    <a:pt x="0" y="121076"/>
                  </a:lnTo>
                  <a:cubicBezTo>
                    <a:pt x="0" y="54207"/>
                    <a:pt x="54207" y="0"/>
                    <a:pt x="12107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55211" cy="84255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Menú digital interactivo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440387" y="2812541"/>
            <a:ext cx="1393766" cy="1462564"/>
            <a:chOff x="0" y="0"/>
            <a:chExt cx="748244" cy="7851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48244" cy="785179"/>
            </a:xfrm>
            <a:custGeom>
              <a:avLst/>
              <a:gdLst/>
              <a:ahLst/>
              <a:cxnLst/>
              <a:rect r="r" b="b" t="t" l="l"/>
              <a:pathLst>
                <a:path h="785179" w="748244">
                  <a:moveTo>
                    <a:pt x="122203" y="0"/>
                  </a:moveTo>
                  <a:lnTo>
                    <a:pt x="626042" y="0"/>
                  </a:lnTo>
                  <a:cubicBezTo>
                    <a:pt x="658452" y="0"/>
                    <a:pt x="689535" y="12875"/>
                    <a:pt x="712452" y="35792"/>
                  </a:cubicBezTo>
                  <a:cubicBezTo>
                    <a:pt x="735370" y="58710"/>
                    <a:pt x="748244" y="89793"/>
                    <a:pt x="748244" y="122203"/>
                  </a:cubicBezTo>
                  <a:lnTo>
                    <a:pt x="748244" y="662976"/>
                  </a:lnTo>
                  <a:cubicBezTo>
                    <a:pt x="748244" y="695386"/>
                    <a:pt x="735370" y="726469"/>
                    <a:pt x="712452" y="749386"/>
                  </a:cubicBezTo>
                  <a:cubicBezTo>
                    <a:pt x="689535" y="772304"/>
                    <a:pt x="658452" y="785179"/>
                    <a:pt x="626042" y="785179"/>
                  </a:cubicBezTo>
                  <a:lnTo>
                    <a:pt x="122203" y="785179"/>
                  </a:lnTo>
                  <a:cubicBezTo>
                    <a:pt x="89793" y="785179"/>
                    <a:pt x="58710" y="772304"/>
                    <a:pt x="35792" y="749386"/>
                  </a:cubicBezTo>
                  <a:cubicBezTo>
                    <a:pt x="12875" y="726469"/>
                    <a:pt x="0" y="695386"/>
                    <a:pt x="0" y="662976"/>
                  </a:cubicBezTo>
                  <a:lnTo>
                    <a:pt x="0" y="122203"/>
                  </a:lnTo>
                  <a:cubicBezTo>
                    <a:pt x="0" y="89793"/>
                    <a:pt x="12875" y="58710"/>
                    <a:pt x="35792" y="35792"/>
                  </a:cubicBezTo>
                  <a:cubicBezTo>
                    <a:pt x="58710" y="12875"/>
                    <a:pt x="89793" y="0"/>
                    <a:pt x="122203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48244" cy="82327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239"/>
                </a:lnSpc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Carrito de compras digital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268557" y="7707784"/>
            <a:ext cx="1819421" cy="1471557"/>
            <a:chOff x="0" y="0"/>
            <a:chExt cx="976757" cy="79000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6757" cy="790007"/>
            </a:xfrm>
            <a:custGeom>
              <a:avLst/>
              <a:gdLst/>
              <a:ahLst/>
              <a:cxnLst/>
              <a:rect r="r" b="b" t="t" l="l"/>
              <a:pathLst>
                <a:path h="790007" w="976757">
                  <a:moveTo>
                    <a:pt x="93613" y="0"/>
                  </a:moveTo>
                  <a:lnTo>
                    <a:pt x="883144" y="0"/>
                  </a:lnTo>
                  <a:cubicBezTo>
                    <a:pt x="934845" y="0"/>
                    <a:pt x="976757" y="41912"/>
                    <a:pt x="976757" y="93613"/>
                  </a:cubicBezTo>
                  <a:lnTo>
                    <a:pt x="976757" y="696393"/>
                  </a:lnTo>
                  <a:cubicBezTo>
                    <a:pt x="976757" y="721221"/>
                    <a:pt x="966894" y="745032"/>
                    <a:pt x="949338" y="762588"/>
                  </a:cubicBezTo>
                  <a:cubicBezTo>
                    <a:pt x="931783" y="780144"/>
                    <a:pt x="907972" y="790007"/>
                    <a:pt x="883144" y="790007"/>
                  </a:cubicBezTo>
                  <a:lnTo>
                    <a:pt x="93613" y="790007"/>
                  </a:lnTo>
                  <a:cubicBezTo>
                    <a:pt x="41912" y="790007"/>
                    <a:pt x="0" y="748095"/>
                    <a:pt x="0" y="696393"/>
                  </a:cubicBezTo>
                  <a:lnTo>
                    <a:pt x="0" y="93613"/>
                  </a:lnTo>
                  <a:cubicBezTo>
                    <a:pt x="0" y="68786"/>
                    <a:pt x="9863" y="44975"/>
                    <a:pt x="27419" y="27419"/>
                  </a:cubicBezTo>
                  <a:cubicBezTo>
                    <a:pt x="44975" y="9863"/>
                    <a:pt x="68786" y="0"/>
                    <a:pt x="93613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6757" cy="82810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Botón “Confirmar pedido”</a:t>
              </a:r>
            </a:p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237642" y="7727525"/>
            <a:ext cx="1766658" cy="1432077"/>
            <a:chOff x="0" y="0"/>
            <a:chExt cx="948432" cy="7688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48432" cy="768812"/>
            </a:xfrm>
            <a:custGeom>
              <a:avLst/>
              <a:gdLst/>
              <a:ahLst/>
              <a:cxnLst/>
              <a:rect r="r" b="b" t="t" l="l"/>
              <a:pathLst>
                <a:path h="768812" w="948432">
                  <a:moveTo>
                    <a:pt x="96409" y="0"/>
                  </a:moveTo>
                  <a:lnTo>
                    <a:pt x="852022" y="0"/>
                  </a:lnTo>
                  <a:cubicBezTo>
                    <a:pt x="905268" y="0"/>
                    <a:pt x="948432" y="43164"/>
                    <a:pt x="948432" y="96409"/>
                  </a:cubicBezTo>
                  <a:lnTo>
                    <a:pt x="948432" y="672402"/>
                  </a:lnTo>
                  <a:cubicBezTo>
                    <a:pt x="948432" y="697972"/>
                    <a:pt x="938274" y="722494"/>
                    <a:pt x="920194" y="740574"/>
                  </a:cubicBezTo>
                  <a:cubicBezTo>
                    <a:pt x="902114" y="758654"/>
                    <a:pt x="877592" y="768812"/>
                    <a:pt x="852022" y="768812"/>
                  </a:cubicBezTo>
                  <a:lnTo>
                    <a:pt x="96409" y="768812"/>
                  </a:lnTo>
                  <a:cubicBezTo>
                    <a:pt x="43164" y="768812"/>
                    <a:pt x="0" y="725648"/>
                    <a:pt x="0" y="672402"/>
                  </a:cubicBezTo>
                  <a:lnTo>
                    <a:pt x="0" y="96409"/>
                  </a:lnTo>
                  <a:cubicBezTo>
                    <a:pt x="0" y="43164"/>
                    <a:pt x="43164" y="0"/>
                    <a:pt x="96409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48432" cy="80691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Sección de total a pagar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68557" y="6098020"/>
            <a:ext cx="1819421" cy="1462032"/>
            <a:chOff x="0" y="0"/>
            <a:chExt cx="976757" cy="7848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76757" cy="784893"/>
            </a:xfrm>
            <a:custGeom>
              <a:avLst/>
              <a:gdLst/>
              <a:ahLst/>
              <a:cxnLst/>
              <a:rect r="r" b="b" t="t" l="l"/>
              <a:pathLst>
                <a:path h="784893" w="976757">
                  <a:moveTo>
                    <a:pt x="93613" y="0"/>
                  </a:moveTo>
                  <a:lnTo>
                    <a:pt x="883144" y="0"/>
                  </a:lnTo>
                  <a:cubicBezTo>
                    <a:pt x="934845" y="0"/>
                    <a:pt x="976757" y="41912"/>
                    <a:pt x="976757" y="93613"/>
                  </a:cubicBezTo>
                  <a:lnTo>
                    <a:pt x="976757" y="691280"/>
                  </a:lnTo>
                  <a:cubicBezTo>
                    <a:pt x="976757" y="742981"/>
                    <a:pt x="934845" y="784893"/>
                    <a:pt x="883144" y="784893"/>
                  </a:cubicBezTo>
                  <a:lnTo>
                    <a:pt x="93613" y="784893"/>
                  </a:lnTo>
                  <a:cubicBezTo>
                    <a:pt x="68786" y="784893"/>
                    <a:pt x="44975" y="775030"/>
                    <a:pt x="27419" y="757474"/>
                  </a:cubicBezTo>
                  <a:cubicBezTo>
                    <a:pt x="9863" y="739918"/>
                    <a:pt x="0" y="716108"/>
                    <a:pt x="0" y="691280"/>
                  </a:cubicBezTo>
                  <a:lnTo>
                    <a:pt x="0" y="93613"/>
                  </a:lnTo>
                  <a:cubicBezTo>
                    <a:pt x="0" y="68786"/>
                    <a:pt x="9863" y="44975"/>
                    <a:pt x="27419" y="27419"/>
                  </a:cubicBezTo>
                  <a:cubicBezTo>
                    <a:pt x="44975" y="9863"/>
                    <a:pt x="68786" y="0"/>
                    <a:pt x="93613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76757" cy="82299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Botón “Agregar al carrito”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184879" y="6130956"/>
            <a:ext cx="1819421" cy="1462032"/>
            <a:chOff x="0" y="0"/>
            <a:chExt cx="976757" cy="78489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76757" cy="784893"/>
            </a:xfrm>
            <a:custGeom>
              <a:avLst/>
              <a:gdLst/>
              <a:ahLst/>
              <a:cxnLst/>
              <a:rect r="r" b="b" t="t" l="l"/>
              <a:pathLst>
                <a:path h="784893" w="976757">
                  <a:moveTo>
                    <a:pt x="93613" y="0"/>
                  </a:moveTo>
                  <a:lnTo>
                    <a:pt x="883144" y="0"/>
                  </a:lnTo>
                  <a:cubicBezTo>
                    <a:pt x="934845" y="0"/>
                    <a:pt x="976757" y="41912"/>
                    <a:pt x="976757" y="93613"/>
                  </a:cubicBezTo>
                  <a:lnTo>
                    <a:pt x="976757" y="691280"/>
                  </a:lnTo>
                  <a:cubicBezTo>
                    <a:pt x="976757" y="742981"/>
                    <a:pt x="934845" y="784893"/>
                    <a:pt x="883144" y="784893"/>
                  </a:cubicBezTo>
                  <a:lnTo>
                    <a:pt x="93613" y="784893"/>
                  </a:lnTo>
                  <a:cubicBezTo>
                    <a:pt x="68786" y="784893"/>
                    <a:pt x="44975" y="775030"/>
                    <a:pt x="27419" y="757474"/>
                  </a:cubicBezTo>
                  <a:cubicBezTo>
                    <a:pt x="9863" y="739918"/>
                    <a:pt x="0" y="716108"/>
                    <a:pt x="0" y="691280"/>
                  </a:cubicBezTo>
                  <a:lnTo>
                    <a:pt x="0" y="93613"/>
                  </a:lnTo>
                  <a:cubicBezTo>
                    <a:pt x="0" y="68786"/>
                    <a:pt x="9863" y="44975"/>
                    <a:pt x="27419" y="27419"/>
                  </a:cubicBezTo>
                  <a:cubicBezTo>
                    <a:pt x="44975" y="9863"/>
                    <a:pt x="68786" y="0"/>
                    <a:pt x="93613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76757" cy="82299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Pantalla con listado de productos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898020" y="7552138"/>
            <a:ext cx="2085968" cy="1274976"/>
            <a:chOff x="0" y="0"/>
            <a:chExt cx="1119853" cy="6844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19853" cy="684472"/>
            </a:xfrm>
            <a:custGeom>
              <a:avLst/>
              <a:gdLst/>
              <a:ahLst/>
              <a:cxnLst/>
              <a:rect r="r" b="b" t="t" l="l"/>
              <a:pathLst>
                <a:path h="684472" w="1119853">
                  <a:moveTo>
                    <a:pt x="81651" y="0"/>
                  </a:moveTo>
                  <a:lnTo>
                    <a:pt x="1038202" y="0"/>
                  </a:lnTo>
                  <a:cubicBezTo>
                    <a:pt x="1083297" y="0"/>
                    <a:pt x="1119853" y="36557"/>
                    <a:pt x="1119853" y="81651"/>
                  </a:cubicBezTo>
                  <a:lnTo>
                    <a:pt x="1119853" y="602821"/>
                  </a:lnTo>
                  <a:cubicBezTo>
                    <a:pt x="1119853" y="647915"/>
                    <a:pt x="1083297" y="684472"/>
                    <a:pt x="1038202" y="684472"/>
                  </a:cubicBezTo>
                  <a:lnTo>
                    <a:pt x="81651" y="684472"/>
                  </a:lnTo>
                  <a:cubicBezTo>
                    <a:pt x="59996" y="684472"/>
                    <a:pt x="39228" y="675869"/>
                    <a:pt x="23915" y="660557"/>
                  </a:cubicBezTo>
                  <a:cubicBezTo>
                    <a:pt x="8603" y="645244"/>
                    <a:pt x="0" y="624476"/>
                    <a:pt x="0" y="602821"/>
                  </a:cubicBezTo>
                  <a:lnTo>
                    <a:pt x="0" y="81651"/>
                  </a:lnTo>
                  <a:cubicBezTo>
                    <a:pt x="0" y="36557"/>
                    <a:pt x="36557" y="0"/>
                    <a:pt x="81651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119853" cy="72257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¿El proceso es rápido?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155143" y="7429692"/>
            <a:ext cx="2120301" cy="1519868"/>
            <a:chOff x="0" y="0"/>
            <a:chExt cx="1138285" cy="81594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38285" cy="815942"/>
            </a:xfrm>
            <a:custGeom>
              <a:avLst/>
              <a:gdLst/>
              <a:ahLst/>
              <a:cxnLst/>
              <a:rect r="r" b="b" t="t" l="l"/>
              <a:pathLst>
                <a:path h="815942" w="1138285">
                  <a:moveTo>
                    <a:pt x="80329" y="0"/>
                  </a:moveTo>
                  <a:lnTo>
                    <a:pt x="1057956" y="0"/>
                  </a:lnTo>
                  <a:cubicBezTo>
                    <a:pt x="1102320" y="0"/>
                    <a:pt x="1138285" y="35965"/>
                    <a:pt x="1138285" y="80329"/>
                  </a:cubicBezTo>
                  <a:lnTo>
                    <a:pt x="1138285" y="735613"/>
                  </a:lnTo>
                  <a:cubicBezTo>
                    <a:pt x="1138285" y="756918"/>
                    <a:pt x="1129822" y="777350"/>
                    <a:pt x="1114757" y="792414"/>
                  </a:cubicBezTo>
                  <a:cubicBezTo>
                    <a:pt x="1099692" y="807479"/>
                    <a:pt x="1079260" y="815942"/>
                    <a:pt x="1057956" y="815942"/>
                  </a:cubicBezTo>
                  <a:lnTo>
                    <a:pt x="80329" y="815942"/>
                  </a:lnTo>
                  <a:cubicBezTo>
                    <a:pt x="59025" y="815942"/>
                    <a:pt x="38593" y="807479"/>
                    <a:pt x="23528" y="792414"/>
                  </a:cubicBezTo>
                  <a:cubicBezTo>
                    <a:pt x="8463" y="777350"/>
                    <a:pt x="0" y="756918"/>
                    <a:pt x="0" y="735613"/>
                  </a:cubicBezTo>
                  <a:lnTo>
                    <a:pt x="0" y="80329"/>
                  </a:lnTo>
                  <a:cubicBezTo>
                    <a:pt x="0" y="59025"/>
                    <a:pt x="8463" y="38593"/>
                    <a:pt x="23528" y="23528"/>
                  </a:cubicBezTo>
                  <a:cubicBezTo>
                    <a:pt x="38593" y="8463"/>
                    <a:pt x="59025" y="0"/>
                    <a:pt x="80329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138285" cy="8540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¿Entiendes cuánto vas a pagar?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155143" y="5900405"/>
            <a:ext cx="2120301" cy="1332001"/>
            <a:chOff x="0" y="0"/>
            <a:chExt cx="1138285" cy="71508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38285" cy="715086"/>
            </a:xfrm>
            <a:custGeom>
              <a:avLst/>
              <a:gdLst/>
              <a:ahLst/>
              <a:cxnLst/>
              <a:rect r="r" b="b" t="t" l="l"/>
              <a:pathLst>
                <a:path h="715086" w="1138285">
                  <a:moveTo>
                    <a:pt x="80329" y="0"/>
                  </a:moveTo>
                  <a:lnTo>
                    <a:pt x="1057956" y="0"/>
                  </a:lnTo>
                  <a:cubicBezTo>
                    <a:pt x="1102320" y="0"/>
                    <a:pt x="1138285" y="35965"/>
                    <a:pt x="1138285" y="80329"/>
                  </a:cubicBezTo>
                  <a:lnTo>
                    <a:pt x="1138285" y="634756"/>
                  </a:lnTo>
                  <a:cubicBezTo>
                    <a:pt x="1138285" y="656061"/>
                    <a:pt x="1129822" y="676493"/>
                    <a:pt x="1114757" y="691558"/>
                  </a:cubicBezTo>
                  <a:cubicBezTo>
                    <a:pt x="1099692" y="706622"/>
                    <a:pt x="1079260" y="715086"/>
                    <a:pt x="1057956" y="715086"/>
                  </a:cubicBezTo>
                  <a:lnTo>
                    <a:pt x="80329" y="715086"/>
                  </a:lnTo>
                  <a:cubicBezTo>
                    <a:pt x="59025" y="715086"/>
                    <a:pt x="38593" y="706622"/>
                    <a:pt x="23528" y="691558"/>
                  </a:cubicBezTo>
                  <a:cubicBezTo>
                    <a:pt x="8463" y="676493"/>
                    <a:pt x="0" y="656061"/>
                    <a:pt x="0" y="634756"/>
                  </a:cubicBezTo>
                  <a:lnTo>
                    <a:pt x="0" y="80329"/>
                  </a:lnTo>
                  <a:cubicBezTo>
                    <a:pt x="0" y="59025"/>
                    <a:pt x="8463" y="38593"/>
                    <a:pt x="23528" y="23528"/>
                  </a:cubicBezTo>
                  <a:cubicBezTo>
                    <a:pt x="38593" y="8463"/>
                    <a:pt x="59025" y="0"/>
                    <a:pt x="80329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138285" cy="75318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45438" indent="-172719" lvl="1">
                <a:lnSpc>
                  <a:spcPts val="2239"/>
                </a:lnSpc>
                <a:buFont typeface="Arial"/>
                <a:buChar char="•"/>
              </a:pPr>
              <a:r>
                <a:rPr lang="en-US" sz="1599" spc="-31">
                  <a:solidFill>
                    <a:srgbClr val="100F0D"/>
                  </a:solidFill>
                  <a:latin typeface="DM Sans"/>
                  <a:ea typeface="DM Sans"/>
                  <a:cs typeface="DM Sans"/>
                  <a:sym typeface="DM Sans"/>
                </a:rPr>
                <a:t>¿Es fácil agregar productos?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3624" y="258763"/>
            <a:ext cx="4751784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MoSCoW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7513" y="4162124"/>
            <a:ext cx="6013023" cy="2426692"/>
            <a:chOff x="0" y="0"/>
            <a:chExt cx="3228096" cy="1302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28096" cy="1302772"/>
            </a:xfrm>
            <a:custGeom>
              <a:avLst/>
              <a:gdLst/>
              <a:ahLst/>
              <a:cxnLst/>
              <a:rect r="r" b="b" t="t" l="l"/>
              <a:pathLst>
                <a:path h="1302772" w="3228096">
                  <a:moveTo>
                    <a:pt x="28326" y="0"/>
                  </a:moveTo>
                  <a:lnTo>
                    <a:pt x="3199770" y="0"/>
                  </a:lnTo>
                  <a:cubicBezTo>
                    <a:pt x="3207283" y="0"/>
                    <a:pt x="3214487" y="2984"/>
                    <a:pt x="3219799" y="8296"/>
                  </a:cubicBezTo>
                  <a:cubicBezTo>
                    <a:pt x="3225111" y="13608"/>
                    <a:pt x="3228096" y="20813"/>
                    <a:pt x="3228096" y="28326"/>
                  </a:cubicBezTo>
                  <a:lnTo>
                    <a:pt x="3228096" y="1274446"/>
                  </a:lnTo>
                  <a:cubicBezTo>
                    <a:pt x="3228096" y="1281958"/>
                    <a:pt x="3225111" y="1289163"/>
                    <a:pt x="3219799" y="1294475"/>
                  </a:cubicBezTo>
                  <a:cubicBezTo>
                    <a:pt x="3214487" y="1299787"/>
                    <a:pt x="3207283" y="1302772"/>
                    <a:pt x="3199770" y="1302772"/>
                  </a:cubicBezTo>
                  <a:lnTo>
                    <a:pt x="28326" y="1302772"/>
                  </a:lnTo>
                  <a:cubicBezTo>
                    <a:pt x="12682" y="1302772"/>
                    <a:pt x="0" y="1290090"/>
                    <a:pt x="0" y="1274446"/>
                  </a:cubicBezTo>
                  <a:lnTo>
                    <a:pt x="0" y="28326"/>
                  </a:lnTo>
                  <a:cubicBezTo>
                    <a:pt x="0" y="20813"/>
                    <a:pt x="2984" y="13608"/>
                    <a:pt x="8296" y="8296"/>
                  </a:cubicBezTo>
                  <a:cubicBezTo>
                    <a:pt x="13608" y="2984"/>
                    <a:pt x="20813" y="0"/>
                    <a:pt x="2832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28096" cy="13313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88617" indent="-194308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Requisitos importantes que aportan valor significativo, pero pueden posponerse temporalmente sin afectar lo esencial.</a:t>
              </a:r>
            </a:p>
            <a:p>
              <a:pPr algn="ctr">
                <a:lnSpc>
                  <a:spcPts val="2519"/>
                </a:lnSpc>
              </a:pPr>
            </a:p>
            <a:p>
              <a:pPr algn="ctr">
                <a:lnSpc>
                  <a:spcPts val="2519"/>
                </a:lnSpc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 Ejemplo: WiFi para clientes.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42716" y="7593248"/>
            <a:ext cx="6641814" cy="2426692"/>
            <a:chOff x="0" y="0"/>
            <a:chExt cx="3565663" cy="1302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65663" cy="1302772"/>
            </a:xfrm>
            <a:custGeom>
              <a:avLst/>
              <a:gdLst/>
              <a:ahLst/>
              <a:cxnLst/>
              <a:rect r="r" b="b" t="t" l="l"/>
              <a:pathLst>
                <a:path h="1302772" w="3565663">
                  <a:moveTo>
                    <a:pt x="25644" y="0"/>
                  </a:moveTo>
                  <a:lnTo>
                    <a:pt x="3540019" y="0"/>
                  </a:lnTo>
                  <a:cubicBezTo>
                    <a:pt x="3554182" y="0"/>
                    <a:pt x="3565663" y="11481"/>
                    <a:pt x="3565663" y="25644"/>
                  </a:cubicBezTo>
                  <a:lnTo>
                    <a:pt x="3565663" y="1277128"/>
                  </a:lnTo>
                  <a:cubicBezTo>
                    <a:pt x="3565663" y="1291290"/>
                    <a:pt x="3554182" y="1302772"/>
                    <a:pt x="3540019" y="1302772"/>
                  </a:cubicBezTo>
                  <a:lnTo>
                    <a:pt x="25644" y="1302772"/>
                  </a:lnTo>
                  <a:cubicBezTo>
                    <a:pt x="11481" y="1302772"/>
                    <a:pt x="0" y="1291290"/>
                    <a:pt x="0" y="1277128"/>
                  </a:cubicBezTo>
                  <a:lnTo>
                    <a:pt x="0" y="25644"/>
                  </a:lnTo>
                  <a:cubicBezTo>
                    <a:pt x="0" y="11481"/>
                    <a:pt x="11481" y="0"/>
                    <a:pt x="25644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565663" cy="13313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88617" indent="-194308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Requisitos que no se implementarán en esta fase para mantener el enfoque y controlar el alcance del proyecto.</a:t>
              </a:r>
            </a:p>
            <a:p>
              <a:pPr algn="ctr">
                <a:lnSpc>
                  <a:spcPts val="2519"/>
                </a:lnSpc>
              </a:pPr>
            </a:p>
            <a:p>
              <a:pPr algn="ctr">
                <a:lnSpc>
                  <a:spcPts val="2519"/>
                </a:lnSpc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  Ejemplo: Abrir una segunda sucursal.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679849" y="1852442"/>
            <a:ext cx="6786094" cy="13329828"/>
          </a:xfrm>
          <a:custGeom>
            <a:avLst/>
            <a:gdLst/>
            <a:ahLst/>
            <a:cxnLst/>
            <a:rect r="r" b="b" t="t" l="l"/>
            <a:pathLst>
              <a:path h="13329828" w="6786094">
                <a:moveTo>
                  <a:pt x="0" y="0"/>
                </a:moveTo>
                <a:lnTo>
                  <a:pt x="6786095" y="0"/>
                </a:lnTo>
                <a:lnTo>
                  <a:pt x="6786095" y="13329828"/>
                </a:lnTo>
                <a:lnTo>
                  <a:pt x="0" y="1332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4343878"/>
            <a:ext cx="6013023" cy="2426692"/>
            <a:chOff x="0" y="0"/>
            <a:chExt cx="3228096" cy="13027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28096" cy="1302772"/>
            </a:xfrm>
            <a:custGeom>
              <a:avLst/>
              <a:gdLst/>
              <a:ahLst/>
              <a:cxnLst/>
              <a:rect r="r" b="b" t="t" l="l"/>
              <a:pathLst>
                <a:path h="1302772" w="3228096">
                  <a:moveTo>
                    <a:pt x="28326" y="0"/>
                  </a:moveTo>
                  <a:lnTo>
                    <a:pt x="3199770" y="0"/>
                  </a:lnTo>
                  <a:cubicBezTo>
                    <a:pt x="3207283" y="0"/>
                    <a:pt x="3214487" y="2984"/>
                    <a:pt x="3219799" y="8296"/>
                  </a:cubicBezTo>
                  <a:cubicBezTo>
                    <a:pt x="3225111" y="13608"/>
                    <a:pt x="3228096" y="20813"/>
                    <a:pt x="3228096" y="28326"/>
                  </a:cubicBezTo>
                  <a:lnTo>
                    <a:pt x="3228096" y="1274446"/>
                  </a:lnTo>
                  <a:cubicBezTo>
                    <a:pt x="3228096" y="1281958"/>
                    <a:pt x="3225111" y="1289163"/>
                    <a:pt x="3219799" y="1294475"/>
                  </a:cubicBezTo>
                  <a:cubicBezTo>
                    <a:pt x="3214487" y="1299787"/>
                    <a:pt x="3207283" y="1302772"/>
                    <a:pt x="3199770" y="1302772"/>
                  </a:cubicBezTo>
                  <a:lnTo>
                    <a:pt x="28326" y="1302772"/>
                  </a:lnTo>
                  <a:cubicBezTo>
                    <a:pt x="12682" y="1302772"/>
                    <a:pt x="0" y="1290090"/>
                    <a:pt x="0" y="1274446"/>
                  </a:cubicBezTo>
                  <a:lnTo>
                    <a:pt x="0" y="28326"/>
                  </a:lnTo>
                  <a:cubicBezTo>
                    <a:pt x="0" y="20813"/>
                    <a:pt x="2984" y="13608"/>
                    <a:pt x="8296" y="8296"/>
                  </a:cubicBezTo>
                  <a:cubicBezTo>
                    <a:pt x="13608" y="2984"/>
                    <a:pt x="20813" y="0"/>
                    <a:pt x="28326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228096" cy="13313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88617" indent="-194308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Requisitos obligatorios y críticos. Sin ellos el proyecto no funciona ni cumple su objetivo principal.</a:t>
              </a:r>
            </a:p>
            <a:p>
              <a:pPr algn="ctr">
                <a:lnSpc>
                  <a:spcPts val="2519"/>
                </a:lnSpc>
              </a:pPr>
            </a:p>
            <a:p>
              <a:pPr algn="ctr">
                <a:lnSpc>
                  <a:spcPts val="2519"/>
                </a:lnSpc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  Ejemplo: Máquina de café funcionando.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47542" y="3810597"/>
            <a:ext cx="4575339" cy="740250"/>
            <a:chOff x="0" y="0"/>
            <a:chExt cx="956448" cy="154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6448" cy="154745"/>
            </a:xfrm>
            <a:custGeom>
              <a:avLst/>
              <a:gdLst/>
              <a:ahLst/>
              <a:cxnLst/>
              <a:rect r="r" b="b" t="t" l="l"/>
              <a:pathLst>
                <a:path h="154745" w="956448">
                  <a:moveTo>
                    <a:pt x="77372" y="0"/>
                  </a:moveTo>
                  <a:lnTo>
                    <a:pt x="879075" y="0"/>
                  </a:lnTo>
                  <a:cubicBezTo>
                    <a:pt x="921807" y="0"/>
                    <a:pt x="956448" y="34641"/>
                    <a:pt x="956448" y="77372"/>
                  </a:cubicBezTo>
                  <a:lnTo>
                    <a:pt x="956448" y="77372"/>
                  </a:lnTo>
                  <a:cubicBezTo>
                    <a:pt x="956448" y="97893"/>
                    <a:pt x="948296" y="117573"/>
                    <a:pt x="933786" y="132083"/>
                  </a:cubicBezTo>
                  <a:cubicBezTo>
                    <a:pt x="919275" y="146593"/>
                    <a:pt x="899595" y="154745"/>
                    <a:pt x="879075" y="154745"/>
                  </a:cubicBezTo>
                  <a:lnTo>
                    <a:pt x="77372" y="154745"/>
                  </a:lnTo>
                  <a:cubicBezTo>
                    <a:pt x="34641" y="154745"/>
                    <a:pt x="0" y="120104"/>
                    <a:pt x="0" y="77372"/>
                  </a:cubicBezTo>
                  <a:lnTo>
                    <a:pt x="0" y="77372"/>
                  </a:lnTo>
                  <a:cubicBezTo>
                    <a:pt x="0" y="34641"/>
                    <a:pt x="34641" y="0"/>
                    <a:pt x="77372" y="0"/>
                  </a:cubicBezTo>
                  <a:close/>
                </a:path>
              </a:pathLst>
            </a:custGeom>
            <a:solidFill>
              <a:srgbClr val="3AB8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56448" cy="211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Must Have (Debe tener)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6904" y="7551621"/>
            <a:ext cx="6204818" cy="2426692"/>
            <a:chOff x="0" y="0"/>
            <a:chExt cx="3331061" cy="13027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31061" cy="1302772"/>
            </a:xfrm>
            <a:custGeom>
              <a:avLst/>
              <a:gdLst/>
              <a:ahLst/>
              <a:cxnLst/>
              <a:rect r="r" b="b" t="t" l="l"/>
              <a:pathLst>
                <a:path h="1302772" w="3331061">
                  <a:moveTo>
                    <a:pt x="27450" y="0"/>
                  </a:moveTo>
                  <a:lnTo>
                    <a:pt x="3303611" y="0"/>
                  </a:lnTo>
                  <a:cubicBezTo>
                    <a:pt x="3318771" y="0"/>
                    <a:pt x="3331061" y="12290"/>
                    <a:pt x="3331061" y="27450"/>
                  </a:cubicBezTo>
                  <a:lnTo>
                    <a:pt x="3331061" y="1275322"/>
                  </a:lnTo>
                  <a:cubicBezTo>
                    <a:pt x="3331061" y="1282602"/>
                    <a:pt x="3328169" y="1289584"/>
                    <a:pt x="3323021" y="1294732"/>
                  </a:cubicBezTo>
                  <a:cubicBezTo>
                    <a:pt x="3317873" y="1299879"/>
                    <a:pt x="3310891" y="1302772"/>
                    <a:pt x="3303611" y="1302772"/>
                  </a:cubicBezTo>
                  <a:lnTo>
                    <a:pt x="27450" y="1302772"/>
                  </a:lnTo>
                  <a:cubicBezTo>
                    <a:pt x="20170" y="1302772"/>
                    <a:pt x="13188" y="1299879"/>
                    <a:pt x="8040" y="1294732"/>
                  </a:cubicBezTo>
                  <a:cubicBezTo>
                    <a:pt x="2892" y="1289584"/>
                    <a:pt x="0" y="1282602"/>
                    <a:pt x="0" y="1275322"/>
                  </a:cubicBezTo>
                  <a:lnTo>
                    <a:pt x="0" y="27450"/>
                  </a:lnTo>
                  <a:cubicBezTo>
                    <a:pt x="0" y="20170"/>
                    <a:pt x="2892" y="13188"/>
                    <a:pt x="8040" y="8040"/>
                  </a:cubicBezTo>
                  <a:cubicBezTo>
                    <a:pt x="13188" y="2892"/>
                    <a:pt x="20170" y="0"/>
                    <a:pt x="27450" y="0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31061" cy="13313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388617" indent="-194308" lvl="1">
                <a:lnSpc>
                  <a:spcPts val="2519"/>
                </a:lnSpc>
                <a:buFont typeface="Arial"/>
                <a:buChar char="•"/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Requisitos opcionales que mejoran la experiencia o el producto, pero no son necesarios para su funcionamiento básico.</a:t>
              </a:r>
            </a:p>
            <a:p>
              <a:pPr algn="ctr">
                <a:lnSpc>
                  <a:spcPts val="2519"/>
                </a:lnSpc>
              </a:pPr>
            </a:p>
            <a:p>
              <a:pPr algn="ctr">
                <a:lnSpc>
                  <a:spcPts val="2519"/>
                </a:lnSpc>
              </a:pPr>
              <a:r>
                <a:rPr lang="en-US" sz="1799" spc="-35">
                  <a:solidFill>
                    <a:srgbClr val="100F0D"/>
                  </a:solidFill>
                  <a:latin typeface="Open Sans"/>
                  <a:ea typeface="Open Sans"/>
                  <a:cs typeface="Open Sans"/>
                  <a:sym typeface="Open Sans"/>
                </a:rPr>
                <a:t> Ejemplo: Aplicación móvil para pedidos.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3927" y="7018221"/>
            <a:ext cx="5370774" cy="750005"/>
            <a:chOff x="0" y="0"/>
            <a:chExt cx="1122729" cy="1567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2729" cy="156784"/>
            </a:xfrm>
            <a:custGeom>
              <a:avLst/>
              <a:gdLst/>
              <a:ahLst/>
              <a:cxnLst/>
              <a:rect r="r" b="b" t="t" l="l"/>
              <a:pathLst>
                <a:path h="156784" w="1122729">
                  <a:moveTo>
                    <a:pt x="78392" y="0"/>
                  </a:moveTo>
                  <a:lnTo>
                    <a:pt x="1044336" y="0"/>
                  </a:lnTo>
                  <a:cubicBezTo>
                    <a:pt x="1087631" y="0"/>
                    <a:pt x="1122729" y="35097"/>
                    <a:pt x="1122729" y="78392"/>
                  </a:cubicBezTo>
                  <a:lnTo>
                    <a:pt x="1122729" y="78392"/>
                  </a:lnTo>
                  <a:cubicBezTo>
                    <a:pt x="1122729" y="99183"/>
                    <a:pt x="1114469" y="119122"/>
                    <a:pt x="1099768" y="133824"/>
                  </a:cubicBezTo>
                  <a:cubicBezTo>
                    <a:pt x="1085067" y="148525"/>
                    <a:pt x="1065127" y="156784"/>
                    <a:pt x="1044336" y="156784"/>
                  </a:cubicBezTo>
                  <a:lnTo>
                    <a:pt x="78392" y="156784"/>
                  </a:lnTo>
                  <a:cubicBezTo>
                    <a:pt x="35097" y="156784"/>
                    <a:pt x="0" y="121687"/>
                    <a:pt x="0" y="78392"/>
                  </a:cubicBezTo>
                  <a:lnTo>
                    <a:pt x="0" y="78392"/>
                  </a:lnTo>
                  <a:cubicBezTo>
                    <a:pt x="0" y="35097"/>
                    <a:pt x="35097" y="0"/>
                    <a:pt x="78392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122729" cy="213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Could Have (Podría tener)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34278" y="3603628"/>
            <a:ext cx="4877158" cy="740250"/>
            <a:chOff x="0" y="0"/>
            <a:chExt cx="1019541" cy="154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9541" cy="154745"/>
            </a:xfrm>
            <a:custGeom>
              <a:avLst/>
              <a:gdLst/>
              <a:ahLst/>
              <a:cxnLst/>
              <a:rect r="r" b="b" t="t" l="l"/>
              <a:pathLst>
                <a:path h="154745" w="1019541">
                  <a:moveTo>
                    <a:pt x="77372" y="0"/>
                  </a:moveTo>
                  <a:lnTo>
                    <a:pt x="942169" y="0"/>
                  </a:lnTo>
                  <a:cubicBezTo>
                    <a:pt x="984900" y="0"/>
                    <a:pt x="1019541" y="34641"/>
                    <a:pt x="1019541" y="77372"/>
                  </a:cubicBezTo>
                  <a:lnTo>
                    <a:pt x="1019541" y="77372"/>
                  </a:lnTo>
                  <a:cubicBezTo>
                    <a:pt x="1019541" y="97893"/>
                    <a:pt x="1011390" y="117573"/>
                    <a:pt x="996879" y="132083"/>
                  </a:cubicBezTo>
                  <a:cubicBezTo>
                    <a:pt x="982369" y="146593"/>
                    <a:pt x="962689" y="154745"/>
                    <a:pt x="942169" y="154745"/>
                  </a:cubicBezTo>
                  <a:lnTo>
                    <a:pt x="77372" y="154745"/>
                  </a:lnTo>
                  <a:cubicBezTo>
                    <a:pt x="34641" y="154745"/>
                    <a:pt x="0" y="120104"/>
                    <a:pt x="0" y="77372"/>
                  </a:cubicBezTo>
                  <a:lnTo>
                    <a:pt x="0" y="77372"/>
                  </a:lnTo>
                  <a:cubicBezTo>
                    <a:pt x="0" y="34641"/>
                    <a:pt x="34641" y="0"/>
                    <a:pt x="77372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19541" cy="211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u="sng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Should Have (Debería tener)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96705" y="7018221"/>
            <a:ext cx="5733836" cy="750005"/>
            <a:chOff x="0" y="0"/>
            <a:chExt cx="1198625" cy="1567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8625" cy="156784"/>
            </a:xfrm>
            <a:custGeom>
              <a:avLst/>
              <a:gdLst/>
              <a:ahLst/>
              <a:cxnLst/>
              <a:rect r="r" b="b" t="t" l="l"/>
              <a:pathLst>
                <a:path h="156784" w="1198625">
                  <a:moveTo>
                    <a:pt x="78392" y="0"/>
                  </a:moveTo>
                  <a:lnTo>
                    <a:pt x="1120232" y="0"/>
                  </a:lnTo>
                  <a:cubicBezTo>
                    <a:pt x="1163527" y="0"/>
                    <a:pt x="1198625" y="35097"/>
                    <a:pt x="1198625" y="78392"/>
                  </a:cubicBezTo>
                  <a:lnTo>
                    <a:pt x="1198625" y="78392"/>
                  </a:lnTo>
                  <a:cubicBezTo>
                    <a:pt x="1198625" y="99183"/>
                    <a:pt x="1190365" y="119122"/>
                    <a:pt x="1175664" y="133824"/>
                  </a:cubicBezTo>
                  <a:cubicBezTo>
                    <a:pt x="1160963" y="148525"/>
                    <a:pt x="1141023" y="156784"/>
                    <a:pt x="1120232" y="156784"/>
                  </a:cubicBezTo>
                  <a:lnTo>
                    <a:pt x="78392" y="156784"/>
                  </a:lnTo>
                  <a:cubicBezTo>
                    <a:pt x="35097" y="156784"/>
                    <a:pt x="0" y="121687"/>
                    <a:pt x="0" y="78392"/>
                  </a:cubicBezTo>
                  <a:lnTo>
                    <a:pt x="0" y="78392"/>
                  </a:lnTo>
                  <a:cubicBezTo>
                    <a:pt x="0" y="35097"/>
                    <a:pt x="35097" y="0"/>
                    <a:pt x="78392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198625" cy="213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u="sng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Won’t Have (No tendrá por ahora)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52107" y="1785767"/>
            <a:ext cx="1436434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00F0D"/>
                </a:solidFill>
                <a:latin typeface="Open Sans"/>
                <a:ea typeface="Open Sans"/>
                <a:cs typeface="Open Sans"/>
                <a:sym typeface="Open Sans"/>
              </a:rPr>
              <a:t>MoSCoW es una técnica de priorización de requisitos que se utiliza para organizar y clasificar las tareas o funcionalidades de un proyecto según su nivel de importancia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22705" y="0"/>
          <a:ext cx="14062595" cy="5171161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1756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Prioridad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59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Requer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imiento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A1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escripción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1FC4"/>
                    </a:solidFill>
                  </a:tcPr>
                </a:tc>
              </a:tr>
              <a:tr h="8597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Listado de productos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Mostrar los productos disponibles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56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Agregar al carrito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Permitir seleccionar productos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6985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a pagar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Calcular automáticamente el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438953" y="0"/>
          <a:ext cx="3590964" cy="1554863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1554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B85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438953" y="1789556"/>
          <a:ext cx="3590964" cy="3353944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8596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65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6287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438953" y="5413638"/>
          <a:ext cx="3590964" cy="2682773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8942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00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8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22705" y="5413638"/>
          <a:ext cx="14062595" cy="2682773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8942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Must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Confirmar pedido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Finalizar la compra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9003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Eliminar productos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Quitar productos del carrito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881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Seleccionar cantidad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Elegir número de unidades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22705" y="8228283"/>
          <a:ext cx="14062595" cy="2353666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8405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Opciones de pago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efectivo/tarjeta/digital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5131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</a:t>
                      </a: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escripción del producto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Información adicional del producto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4438953" y="8228283"/>
          <a:ext cx="3590964" cy="2058717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8512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207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22705" y="0"/>
          <a:ext cx="14062595" cy="5171161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1756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Prioridad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59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Requer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imiento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A1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escripción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1FC4"/>
                    </a:solidFill>
                  </a:tcPr>
                </a:tc>
              </a:tr>
              <a:tr h="8597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Login / Registro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Crear cuenta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56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Filtros de búsqueda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Filtrar productos por categoría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6985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Could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Diseño llamativo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Paleta de colores armoniosa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438953" y="1789556"/>
          <a:ext cx="3590964" cy="3353944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8596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865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16287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⬜ 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438953" y="0"/>
          <a:ext cx="3590964" cy="1554863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1554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B85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438953" y="5413638"/>
          <a:ext cx="3590964" cy="767258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538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🚫 No aplica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22705" y="5413638"/>
          <a:ext cx="14062595" cy="767258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538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Won’t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Anuncios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se incluirán en esta versión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22705" y="6371395"/>
          <a:ext cx="14062595" cy="772516"/>
        </p:xfrm>
        <a:graphic>
          <a:graphicData uri="http://schemas.openxmlformats.org/drawingml/2006/table">
            <a:tbl>
              <a:tblPr/>
              <a:tblGrid>
                <a:gridCol w="4260235"/>
                <a:gridCol w="4615790"/>
                <a:gridCol w="5186571"/>
              </a:tblGrid>
              <a:tr h="545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Won’t Have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Envió domicilio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Solo pedidos para recoger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4438953" y="6371395"/>
          <a:ext cx="3590964" cy="772516"/>
        </p:xfrm>
        <a:graphic>
          <a:graphicData uri="http://schemas.openxmlformats.org/drawingml/2006/table">
            <a:tbl>
              <a:tblPr/>
              <a:tblGrid>
                <a:gridCol w="2443696"/>
              </a:tblGrid>
              <a:tr h="545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00F0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🚫 No aplica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7614" y="3513667"/>
            <a:ext cx="4773364" cy="10418057"/>
          </a:xfrm>
          <a:custGeom>
            <a:avLst/>
            <a:gdLst/>
            <a:ahLst/>
            <a:cxnLst/>
            <a:rect r="r" b="b" t="t" l="l"/>
            <a:pathLst>
              <a:path h="10418057" w="4773364">
                <a:moveTo>
                  <a:pt x="0" y="0"/>
                </a:moveTo>
                <a:lnTo>
                  <a:pt x="4773365" y="0"/>
                </a:lnTo>
                <a:lnTo>
                  <a:pt x="4773365" y="10418057"/>
                </a:lnTo>
                <a:lnTo>
                  <a:pt x="0" y="1041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4613" y="3887216"/>
            <a:ext cx="4687182" cy="11825459"/>
          </a:xfrm>
          <a:custGeom>
            <a:avLst/>
            <a:gdLst/>
            <a:ahLst/>
            <a:cxnLst/>
            <a:rect r="r" b="b" t="t" l="l"/>
            <a:pathLst>
              <a:path h="11825459" w="4687182">
                <a:moveTo>
                  <a:pt x="4687182" y="0"/>
                </a:moveTo>
                <a:lnTo>
                  <a:pt x="0" y="0"/>
                </a:lnTo>
                <a:lnTo>
                  <a:pt x="0" y="11825459"/>
                </a:lnTo>
                <a:lnTo>
                  <a:pt x="4687182" y="11825459"/>
                </a:lnTo>
                <a:lnTo>
                  <a:pt x="46871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48305" y="540141"/>
            <a:ext cx="11129309" cy="8597391"/>
          </a:xfrm>
          <a:custGeom>
            <a:avLst/>
            <a:gdLst/>
            <a:ahLst/>
            <a:cxnLst/>
            <a:rect r="r" b="b" t="t" l="l"/>
            <a:pathLst>
              <a:path h="8597391" w="11129309">
                <a:moveTo>
                  <a:pt x="0" y="0"/>
                </a:moveTo>
                <a:lnTo>
                  <a:pt x="11129309" y="0"/>
                </a:lnTo>
                <a:lnTo>
                  <a:pt x="11129309" y="8597391"/>
                </a:lnTo>
                <a:lnTo>
                  <a:pt x="0" y="8597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DAHBg6cFMbg</dc:identifier>
  <dcterms:modified xsi:type="dcterms:W3CDTF">2011-08-01T06:04:30Z</dcterms:modified>
  <cp:revision>1</cp:revision>
  <dc:title>Design Thinking</dc:title>
</cp:coreProperties>
</file>